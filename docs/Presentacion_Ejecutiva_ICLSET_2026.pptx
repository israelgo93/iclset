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614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79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E2347"/>
                </a:solidFill>
                <a:latin typeface="Georgia"/>
              </a:defRPr>
            </a:pPr>
            <a:r>
              <a:rPr lang="en-US" sz="1400" b="0" i="0" u="none" strike="noStrike">
                <a:solidFill>
                  <a:srgbClr val="0E2347"/>
                </a:solidFill>
                <a:latin typeface="Georgia"/>
              </a:rPr>
              <a:t>Distribución de la inversión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Costos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A3A6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6A1-8A40-80D5-BA54EF0931B9}"/>
              </c:ext>
            </c:extLst>
          </c:dPt>
          <c:dPt>
            <c:idx val="1"/>
            <c:bubble3D val="0"/>
            <c:spPr>
              <a:solidFill>
                <a:srgbClr val="C9A9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6A1-8A40-80D5-BA54EF0931B9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EC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6A1-8A40-80D5-BA54EF0931B9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EC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6A1-8A40-80D5-BA54EF0931B9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EC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Costos fijos</c:v>
                </c:pt>
                <c:pt idx="1">
                  <c:v>Costos variables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2000</c:v>
                </c:pt>
                <c:pt idx="1">
                  <c:v>6800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6A1-8A40-80D5-BA54EF0931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0E234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8236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3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240000">
            <a:off x="-899161" y="4524626"/>
            <a:ext cx="13990320" cy="1371600"/>
          </a:xfrm>
          <a:prstGeom prst="rect">
            <a:avLst/>
          </a:prstGeom>
          <a:solidFill>
            <a:srgbClr val="1A3A6C"/>
          </a:solidFill>
          <a:ln w="12700">
            <a:solidFill>
              <a:srgbClr val="1A3A6C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3" name="Shape 1"/>
          <p:cNvSpPr/>
          <p:nvPr/>
        </p:nvSpPr>
        <p:spPr>
          <a:xfrm>
            <a:off x="0" y="6217920"/>
            <a:ext cx="12161520" cy="164592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LAICA ELOY ALFARO DE MANABÍ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Facultad de Ciencias de la Vida y Tecnologías  ·  Primera edición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6916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400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ICLSET 2026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31520" y="242316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International Conference on Life Sciences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731520" y="306324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Emerging Technologies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731520" y="3840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«Biociencia, Agrociencia y Tecnología: investigación que transforma territorios»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502920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FECHAS
</a:t>
            </a:r>
            <a:endParaRPr lang="en-US" sz="10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 16 y 17 de julio de 2026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0" y="502920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SEDE
</a:t>
            </a:r>
            <a:endParaRPr lang="en-US" sz="10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Manta – Manabí, Ecuador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503920" y="50292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MODALIDAD
</a:t>
            </a:r>
            <a:endParaRPr lang="en-US" sz="10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Híbrida (presencial + virtual)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6355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Chair: Ing. Alex Santamaria Philco, PhD  ·  Presentación ejecutiva del proyecto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537960"/>
          </a:xfrm>
          <a:prstGeom prst="rect">
            <a:avLst/>
          </a:prstGeom>
          <a:solidFill>
            <a:srgbClr val="1A3A6C"/>
          </a:solidFill>
          <a:ln w="12700">
            <a:solidFill>
              <a:srgbClr val="1A3A6C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EJECUTIVO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23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 conferencia con publicación indexada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" cy="4572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2697480" cy="1691640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EC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2697480" cy="73152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8" name="Text 6"/>
          <p:cNvSpPr/>
          <p:nvPr/>
        </p:nvSpPr>
        <p:spPr>
          <a:xfrm>
            <a:off x="731520" y="21488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A3A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2.662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731520" y="28803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Asistentes esperados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21868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Estudiantes, docentes y profesionales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10712" y="1920240"/>
            <a:ext cx="2697480" cy="1691640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EC"/>
          </a:p>
        </p:txBody>
      </p:sp>
      <p:sp>
        <p:nvSpPr>
          <p:cNvPr id="12" name="Shape 10"/>
          <p:cNvSpPr/>
          <p:nvPr/>
        </p:nvSpPr>
        <p:spPr>
          <a:xfrm>
            <a:off x="3410712" y="1920240"/>
            <a:ext cx="2697480" cy="73152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13" name="Text 11"/>
          <p:cNvSpPr/>
          <p:nvPr/>
        </p:nvSpPr>
        <p:spPr>
          <a:xfrm>
            <a:off x="3593592" y="21488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A3A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3593592" y="28803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temáticos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93592" y="321868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Ciencias, agrociencias y TI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72784" y="1920240"/>
            <a:ext cx="2697480" cy="1691640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EC"/>
          </a:p>
        </p:txBody>
      </p:sp>
      <p:sp>
        <p:nvSpPr>
          <p:cNvPr id="17" name="Shape 15"/>
          <p:cNvSpPr/>
          <p:nvPr/>
        </p:nvSpPr>
        <p:spPr>
          <a:xfrm>
            <a:off x="6272784" y="1920240"/>
            <a:ext cx="2697480" cy="73152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18" name="Text 16"/>
          <p:cNvSpPr/>
          <p:nvPr/>
        </p:nvSpPr>
        <p:spPr>
          <a:xfrm>
            <a:off x="6455664" y="21488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A3A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50+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6455664" y="28803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esperados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55664" y="321868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doble ciego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134856" y="1920240"/>
            <a:ext cx="2697480" cy="1691640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EC"/>
          </a:p>
        </p:txBody>
      </p:sp>
      <p:sp>
        <p:nvSpPr>
          <p:cNvPr id="22" name="Shape 20"/>
          <p:cNvSpPr/>
          <p:nvPr/>
        </p:nvSpPr>
        <p:spPr>
          <a:xfrm>
            <a:off x="9134856" y="1920240"/>
            <a:ext cx="2697480" cy="73152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23" name="Text 21"/>
          <p:cNvSpPr/>
          <p:nvPr/>
        </p:nvSpPr>
        <p:spPr>
          <a:xfrm>
            <a:off x="9317736" y="21488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A3A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800" dirty="0"/>
          </a:p>
        </p:txBody>
      </p:sp>
      <p:sp>
        <p:nvSpPr>
          <p:cNvPr id="24" name="Text 22"/>
          <p:cNvSpPr/>
          <p:nvPr/>
        </p:nvSpPr>
        <p:spPr>
          <a:xfrm>
            <a:off x="9317736" y="28803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Revistas aliadas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317736" y="321868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Indexadas Latindex y Dialnet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3977640"/>
            <a:ext cx="11064240" cy="2240280"/>
          </a:xfrm>
          <a:prstGeom prst="rect">
            <a:avLst/>
          </a:prstGeom>
          <a:solidFill>
            <a:srgbClr val="0E2347"/>
          </a:solidFill>
          <a:ln w="12700">
            <a:solidFill>
              <a:srgbClr val="0E2347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27" name="Shape 25"/>
          <p:cNvSpPr/>
          <p:nvPr/>
        </p:nvSpPr>
        <p:spPr>
          <a:xfrm>
            <a:off x="548640" y="3977640"/>
            <a:ext cx="73152" cy="224028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28" name="Text 26"/>
          <p:cNvSpPr/>
          <p:nvPr/>
        </p:nvSpPr>
        <p:spPr>
          <a:xfrm>
            <a:off x="868680" y="41148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¿Qué es ICLSET 2026?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68680" y="4572000"/>
            <a:ext cx="10698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 edición de una conferencia internacional con revisión por pares doble ciego, libro de actas con ISBN y canalización directa de los artículos aceptados a cinco revistas indexadas aliadas. Evoluciona la Convención 2024 hacia un evento académico con publicación formal, organizado en tres tracks que articulan las siete carreras de la Facultad: Ciencias Biológicas y Ambientales, Agrociencias y Tecnologías de la Información.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E2347"/>
          </a:solidFill>
          <a:ln w="12700">
            <a:solidFill>
              <a:srgbClr val="0E2347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31" name="Text 29"/>
          <p:cNvSpPr/>
          <p:nvPr/>
        </p:nvSpPr>
        <p:spPr>
          <a:xfrm>
            <a:off x="36576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ICLSET 2026  ·  International Conference on Life Sciences and Emerging Technologies  ·  ULEAM  ·  Manta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064240" y="65379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537960"/>
          </a:xfrm>
          <a:prstGeom prst="rect">
            <a:avLst/>
          </a:prstGeom>
          <a:solidFill>
            <a:srgbClr val="1A3A6C"/>
          </a:solidFill>
          <a:ln w="12700">
            <a:solidFill>
              <a:srgbClr val="1A3A6C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23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Propósito académico de la conferencia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" cy="4572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5394960" cy="4297680"/>
          </a:xfrm>
          <a:prstGeom prst="rect">
            <a:avLst/>
          </a:prstGeom>
          <a:solidFill>
            <a:srgbClr val="1A3A6C"/>
          </a:solidFill>
          <a:ln w="12700">
            <a:solidFill>
              <a:srgbClr val="1A3A6C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7" name="Text 5"/>
          <p:cNvSpPr/>
          <p:nvPr/>
        </p:nvSpPr>
        <p:spPr>
          <a:xfrm>
            <a:off x="777240" y="21031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77240" y="2514600"/>
            <a:ext cx="548640" cy="4572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9" name="Text 7"/>
          <p:cNvSpPr/>
          <p:nvPr/>
        </p:nvSpPr>
        <p:spPr>
          <a:xfrm>
            <a:off x="777240" y="2743200"/>
            <a:ext cx="4937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Promover el intercambio académico y científico de calidad mediante la presentación, revisión por pares y publicación directa de artículos científicos en revistas aliadas indexadas.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263640" y="2103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A3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ESPECÍFICOS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63640" y="2514600"/>
            <a:ext cx="548640" cy="4572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12" name="Shape 10"/>
          <p:cNvSpPr/>
          <p:nvPr/>
        </p:nvSpPr>
        <p:spPr>
          <a:xfrm>
            <a:off x="6263640" y="2788920"/>
            <a:ext cx="5349240" cy="1005840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13" name="Shape 11"/>
          <p:cNvSpPr/>
          <p:nvPr/>
        </p:nvSpPr>
        <p:spPr>
          <a:xfrm>
            <a:off x="6263640" y="2788920"/>
            <a:ext cx="73152" cy="100584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14" name="Text 12"/>
          <p:cNvSpPr/>
          <p:nvPr/>
        </p:nvSpPr>
        <p:spPr>
          <a:xfrm>
            <a:off x="6446520" y="288036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3A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178040" y="290779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Difundir investigación original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178040" y="32461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Pósters y artículos completos sometidos a revisión por pares doble ciego.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63640" y="3931920"/>
            <a:ext cx="5349240" cy="1005840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18" name="Shape 16"/>
          <p:cNvSpPr/>
          <p:nvPr/>
        </p:nvSpPr>
        <p:spPr>
          <a:xfrm>
            <a:off x="6263640" y="3931920"/>
            <a:ext cx="73152" cy="100584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19" name="Text 17"/>
          <p:cNvSpPr/>
          <p:nvPr/>
        </p:nvSpPr>
        <p:spPr>
          <a:xfrm>
            <a:off x="6446520" y="402336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3A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178040" y="405079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Articular universidad y territorio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178040" y="43891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Vincular investigación con sectores productivo, público y social del territorio costero.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63640" y="5074920"/>
            <a:ext cx="5349240" cy="1005840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23" name="Shape 21"/>
          <p:cNvSpPr/>
          <p:nvPr/>
        </p:nvSpPr>
        <p:spPr>
          <a:xfrm>
            <a:off x="6263640" y="5074920"/>
            <a:ext cx="73152" cy="100584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24" name="Text 22"/>
          <p:cNvSpPr/>
          <p:nvPr/>
        </p:nvSpPr>
        <p:spPr>
          <a:xfrm>
            <a:off x="6446520" y="516636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3A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178040" y="519379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Iniciar a estudiantes en publicación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178040" y="55321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 formal para grado y posgrado en presentación oral y procesos editoriales.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E2347"/>
          </a:solidFill>
          <a:ln w="12700">
            <a:solidFill>
              <a:srgbClr val="0E2347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28" name="Text 26"/>
          <p:cNvSpPr/>
          <p:nvPr/>
        </p:nvSpPr>
        <p:spPr>
          <a:xfrm>
            <a:off x="36576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ICLSET 2026  ·  International Conference on Life Sciences and Emerging Technologies  ·  ULEAM  ·  Manta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064240" y="65379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537960"/>
          </a:xfrm>
          <a:prstGeom prst="rect">
            <a:avLst/>
          </a:prstGeom>
          <a:solidFill>
            <a:srgbClr val="1A3A6C"/>
          </a:solidFill>
          <a:ln w="12700">
            <a:solidFill>
              <a:srgbClr val="1A3A6C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TEMÁTICOS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23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Tres tracks que articulan siete carreras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" cy="4572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370332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7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EC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3703320" cy="1005840"/>
          </a:xfrm>
          <a:prstGeom prst="rect">
            <a:avLst/>
          </a:prstGeom>
          <a:solidFill>
            <a:srgbClr val="1A3A6C"/>
          </a:solidFill>
          <a:ln w="12700">
            <a:solidFill>
              <a:srgbClr val="1A3A6C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8" name="Text 6"/>
          <p:cNvSpPr/>
          <p:nvPr/>
        </p:nvSpPr>
        <p:spPr>
          <a:xfrm>
            <a:off x="777240" y="20574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33172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Ciencias Biológicas y Ambientales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77240" y="31089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5A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CARRERAS ARTICULADORAS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77240" y="338328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Biología · Ingeniería Ambiental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" y="3977640"/>
            <a:ext cx="3246120" cy="0"/>
          </a:xfrm>
          <a:prstGeom prst="line">
            <a:avLst/>
          </a:prstGeom>
          <a:noFill/>
          <a:ln w="1270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13" name="Text 11"/>
          <p:cNvSpPr/>
          <p:nvPr/>
        </p:nvSpPr>
        <p:spPr>
          <a:xfrm>
            <a:off x="777240" y="41148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5A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EJES SUGERIDOS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77240" y="4389120"/>
            <a:ext cx="3246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Biodiversidad costera y marina, biotecnología, recursos naturales, ecotoxicología, cambio climático, energías renovables, bioinformática.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77240" y="58064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rgbClr val="1A3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Chair: Dr. Klever Mendoza Nieto / Dr. Esteban Chirino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416552" y="1920240"/>
            <a:ext cx="370332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7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EC"/>
          </a:p>
        </p:txBody>
      </p:sp>
      <p:sp>
        <p:nvSpPr>
          <p:cNvPr id="17" name="Shape 15"/>
          <p:cNvSpPr/>
          <p:nvPr/>
        </p:nvSpPr>
        <p:spPr>
          <a:xfrm>
            <a:off x="4416552" y="1920240"/>
            <a:ext cx="3703320" cy="100584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18" name="Text 16"/>
          <p:cNvSpPr/>
          <p:nvPr/>
        </p:nvSpPr>
        <p:spPr>
          <a:xfrm>
            <a:off x="4645152" y="20574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E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45152" y="233172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23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Agrociencias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645152" y="31089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5A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CARRERAS ARTICULADORAS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645152" y="338328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Agropecuaria · Agronegocios · Agroindustrias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45152" y="3977640"/>
            <a:ext cx="3246120" cy="0"/>
          </a:xfrm>
          <a:prstGeom prst="line">
            <a:avLst/>
          </a:prstGeom>
          <a:noFill/>
          <a:ln w="1270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23" name="Text 21"/>
          <p:cNvSpPr/>
          <p:nvPr/>
        </p:nvSpPr>
        <p:spPr>
          <a:xfrm>
            <a:off x="4645152" y="41148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5A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EJES SUGERIDOS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645152" y="4389120"/>
            <a:ext cx="3246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Innovación e Industria 4.0, economía circular, producción sostenible, sanidad e inocuidad, agroexportación, modelos de agronegocio.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645152" y="58064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Chair: Dr. Stalin Santacruz Terán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284464" y="1920240"/>
            <a:ext cx="370332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7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EC"/>
          </a:p>
        </p:txBody>
      </p:sp>
      <p:sp>
        <p:nvSpPr>
          <p:cNvPr id="27" name="Shape 25"/>
          <p:cNvSpPr/>
          <p:nvPr/>
        </p:nvSpPr>
        <p:spPr>
          <a:xfrm>
            <a:off x="8284464" y="1920240"/>
            <a:ext cx="3703320" cy="1005840"/>
          </a:xfrm>
          <a:prstGeom prst="rect">
            <a:avLst/>
          </a:prstGeom>
          <a:solidFill>
            <a:srgbClr val="2A8B8E"/>
          </a:solidFill>
          <a:ln w="12700">
            <a:solidFill>
              <a:srgbClr val="2A8B8E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28" name="Text 26"/>
          <p:cNvSpPr/>
          <p:nvPr/>
        </p:nvSpPr>
        <p:spPr>
          <a:xfrm>
            <a:off x="8513064" y="20574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3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513064" y="233172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Tecnologías de la Información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8513064" y="31089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5A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CARRERAS ARTICULADORAS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513064" y="338328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· Tecnologías de la Información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513064" y="3977640"/>
            <a:ext cx="3246120" cy="0"/>
          </a:xfrm>
          <a:prstGeom prst="line">
            <a:avLst/>
          </a:prstGeom>
          <a:noFill/>
          <a:ln w="1270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33" name="Text 31"/>
          <p:cNvSpPr/>
          <p:nvPr/>
        </p:nvSpPr>
        <p:spPr>
          <a:xfrm>
            <a:off x="8513064" y="41148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5A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EJES SUGERIDOS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513064" y="4389120"/>
            <a:ext cx="3246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software, IA y ciencia de datos, ciberseguridad, IoT, tecnologías educativas, aplicaciones transversales en agro, salud y ambiente.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513064" y="58064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rgbClr val="2A8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Chair: Dra. Patricia Quiroz Palma / Dr. Willian Zamora Mero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E2347"/>
          </a:solidFill>
          <a:ln w="12700">
            <a:solidFill>
              <a:srgbClr val="0E2347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37" name="Text 35"/>
          <p:cNvSpPr/>
          <p:nvPr/>
        </p:nvSpPr>
        <p:spPr>
          <a:xfrm>
            <a:off x="36576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ICLSET 2026  ·  International Conference on Life Sciences and Emerging Technologies  ·  ULEAM  ·  Manta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064240" y="65379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537960"/>
          </a:xfrm>
          <a:prstGeom prst="rect">
            <a:avLst/>
          </a:prstGeom>
          <a:solidFill>
            <a:srgbClr val="1A3A6C"/>
          </a:solidFill>
          <a:ln w="12700">
            <a:solidFill>
              <a:srgbClr val="1A3A6C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DEL EVENTO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23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Audiencia y modalidades académicas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" cy="4572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A3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PARTICIPANTES ESPERADOS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548640" cy="4572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8" name="Text 6"/>
          <p:cNvSpPr/>
          <p:nvPr/>
        </p:nvSpPr>
        <p:spPr>
          <a:xfrm>
            <a:off x="548640" y="26060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3A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2.500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874520" y="2651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Estudiantes ULEAM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874520" y="289864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presencial e híbrido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3136392"/>
            <a:ext cx="5120640" cy="0"/>
          </a:xfrm>
          <a:prstGeom prst="line">
            <a:avLst/>
          </a:prstGeom>
          <a:noFill/>
          <a:ln w="1270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12" name="Text 10"/>
          <p:cNvSpPr/>
          <p:nvPr/>
        </p:nvSpPr>
        <p:spPr>
          <a:xfrm>
            <a:off x="548640" y="317296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3A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874520" y="32186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ULEAM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874520" y="346557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docentes y administrativos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3703320"/>
            <a:ext cx="5120640" cy="0"/>
          </a:xfrm>
          <a:prstGeom prst="line">
            <a:avLst/>
          </a:prstGeom>
          <a:noFill/>
          <a:ln w="1270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16" name="Text 14"/>
          <p:cNvSpPr/>
          <p:nvPr/>
        </p:nvSpPr>
        <p:spPr>
          <a:xfrm>
            <a:off x="548640" y="373989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3A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874520" y="378561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Autores de papers y pósters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874520" y="403250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locales y regionales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4270248"/>
            <a:ext cx="5120640" cy="0"/>
          </a:xfrm>
          <a:prstGeom prst="line">
            <a:avLst/>
          </a:prstGeom>
          <a:noFill/>
          <a:ln w="1270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20" name="Text 18"/>
          <p:cNvSpPr/>
          <p:nvPr/>
        </p:nvSpPr>
        <p:spPr>
          <a:xfrm>
            <a:off x="548640" y="4306824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3A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874520" y="435254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externo / cortesías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874520" y="459943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institucional, autoridades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4837176"/>
            <a:ext cx="5120640" cy="0"/>
          </a:xfrm>
          <a:prstGeom prst="line">
            <a:avLst/>
          </a:prstGeom>
          <a:noFill/>
          <a:ln w="1270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24" name="Text 22"/>
          <p:cNvSpPr/>
          <p:nvPr/>
        </p:nvSpPr>
        <p:spPr>
          <a:xfrm>
            <a:off x="548640" y="487375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3A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874520" y="49194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Conferencistas y panelistas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874520" y="51663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internacionales y nacionales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" y="5404104"/>
            <a:ext cx="5120640" cy="0"/>
          </a:xfrm>
          <a:prstGeom prst="line">
            <a:avLst/>
          </a:prstGeom>
          <a:noFill/>
          <a:ln w="1270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28" name="Shape 26"/>
          <p:cNvSpPr/>
          <p:nvPr/>
        </p:nvSpPr>
        <p:spPr>
          <a:xfrm>
            <a:off x="548640" y="5486400"/>
            <a:ext cx="5303520" cy="731520"/>
          </a:xfrm>
          <a:prstGeom prst="rect">
            <a:avLst/>
          </a:prstGeom>
          <a:solidFill>
            <a:srgbClr val="1A3A6C"/>
          </a:solidFill>
          <a:ln w="12700">
            <a:solidFill>
              <a:srgbClr val="1A3A6C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29" name="Text 27"/>
          <p:cNvSpPr/>
          <p:nvPr/>
        </p:nvSpPr>
        <p:spPr>
          <a:xfrm>
            <a:off x="777240" y="54864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194560" y="54864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2.662 asistentes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6400800" y="1920240"/>
            <a:ext cx="5212080" cy="2331720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32" name="Shape 30"/>
          <p:cNvSpPr/>
          <p:nvPr/>
        </p:nvSpPr>
        <p:spPr>
          <a:xfrm>
            <a:off x="6400800" y="1920240"/>
            <a:ext cx="73152" cy="233172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33" name="Text 31"/>
          <p:cNvSpPr/>
          <p:nvPr/>
        </p:nvSpPr>
        <p:spPr>
          <a:xfrm>
            <a:off x="6629400" y="20574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A3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MODALIDADES ACADÉMICAS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629400" y="2468880"/>
            <a:ext cx="48463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E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Conferencias magistrales (keynotes)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5A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Plenarias presenciales con transmisión simultánea por Zoom.
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E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Paneles transversales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5A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mesas redondas que conectan los tres tracks.
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E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papers · Pósters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5A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Sesiones paralelas virtuales por track + feria de pósters.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400800" y="4434840"/>
            <a:ext cx="5212080" cy="1783080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36" name="Shape 34"/>
          <p:cNvSpPr/>
          <p:nvPr/>
        </p:nvSpPr>
        <p:spPr>
          <a:xfrm>
            <a:off x="6400800" y="4434840"/>
            <a:ext cx="73152" cy="178308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37" name="Text 35"/>
          <p:cNvSpPr/>
          <p:nvPr/>
        </p:nvSpPr>
        <p:spPr>
          <a:xfrm>
            <a:off x="6629400" y="45720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A3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 OBJETIVO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629400" y="493776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0E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Investigadores y docentes universitarios</a:t>
            </a:r>
            <a:endParaRPr lang="en-US" sz="11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0E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Estudiantes de grado y posgrado</a:t>
            </a:r>
            <a:endParaRPr lang="en-US" sz="11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0E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Profesionales del sector productivo y ambiental</a:t>
            </a:r>
            <a:endParaRPr lang="en-US" sz="11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0E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Funcionarios del sector público</a:t>
            </a:r>
            <a:endParaRPr lang="en-US" sz="11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0E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 y cooperación internacional</a:t>
            </a:r>
            <a:endParaRPr lang="en-US" sz="11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0E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Editores de revistas aliadas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E2347"/>
          </a:solidFill>
          <a:ln w="12700">
            <a:solidFill>
              <a:srgbClr val="0E2347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40" name="Text 38"/>
          <p:cNvSpPr/>
          <p:nvPr/>
        </p:nvSpPr>
        <p:spPr>
          <a:xfrm>
            <a:off x="36576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ICLSET 2026  ·  International Conference on Life Sciences and Emerging Technologies  ·  ULEAM  ·  Manta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064240" y="65379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537960"/>
          </a:xfrm>
          <a:prstGeom prst="rect">
            <a:avLst/>
          </a:prstGeom>
          <a:solidFill>
            <a:srgbClr val="1A3A6C"/>
          </a:solidFill>
          <a:ln w="12700">
            <a:solidFill>
              <a:srgbClr val="1A3A6C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ACADÉMICO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23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Tres jornadas en modalidad híbrida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" cy="4572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361188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7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EC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3611880" cy="777240"/>
          </a:xfrm>
          <a:prstGeom prst="rect">
            <a:avLst/>
          </a:prstGeom>
          <a:solidFill>
            <a:srgbClr val="1A3A6C"/>
          </a:solidFill>
          <a:ln w="12700">
            <a:solidFill>
              <a:srgbClr val="1A3A6C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8" name="Text 6"/>
          <p:cNvSpPr/>
          <p:nvPr/>
        </p:nvSpPr>
        <p:spPr>
          <a:xfrm>
            <a:off x="731520" y="199339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 1 — MIÉRCOLES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24028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 de julio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28346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08:00–09:00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920240" y="28346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E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31520" y="3291840"/>
            <a:ext cx="3246120" cy="0"/>
          </a:xfrm>
          <a:prstGeom prst="line">
            <a:avLst/>
          </a:prstGeom>
          <a:noFill/>
          <a:ln w="1270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13" name="Text 11"/>
          <p:cNvSpPr/>
          <p:nvPr/>
        </p:nvSpPr>
        <p:spPr>
          <a:xfrm>
            <a:off x="731520" y="33375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09:00–10:00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920240" y="33375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E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Inauguración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31520" y="3794760"/>
            <a:ext cx="3246120" cy="0"/>
          </a:xfrm>
          <a:prstGeom prst="line">
            <a:avLst/>
          </a:prstGeom>
          <a:noFill/>
          <a:ln w="1270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16" name="Text 14"/>
          <p:cNvSpPr/>
          <p:nvPr/>
        </p:nvSpPr>
        <p:spPr>
          <a:xfrm>
            <a:off x="731520" y="38404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10:00–11:00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920240" y="38404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E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Keynote inaugural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31520" y="4297680"/>
            <a:ext cx="3246120" cy="0"/>
          </a:xfrm>
          <a:prstGeom prst="line">
            <a:avLst/>
          </a:prstGeom>
          <a:noFill/>
          <a:ln w="1270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19" name="Text 17"/>
          <p:cNvSpPr/>
          <p:nvPr/>
        </p:nvSpPr>
        <p:spPr>
          <a:xfrm>
            <a:off x="731520" y="43434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11:30–12:30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920240" y="43434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E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Keynote — TI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31520" y="4800600"/>
            <a:ext cx="3246120" cy="0"/>
          </a:xfrm>
          <a:prstGeom prst="line">
            <a:avLst/>
          </a:prstGeom>
          <a:noFill/>
          <a:ln w="1270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22" name="Text 20"/>
          <p:cNvSpPr/>
          <p:nvPr/>
        </p:nvSpPr>
        <p:spPr>
          <a:xfrm>
            <a:off x="731520" y="48463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12:30–13:30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920240" y="48463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E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transversal — TI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31520" y="5303520"/>
            <a:ext cx="3246120" cy="0"/>
          </a:xfrm>
          <a:prstGeom prst="line">
            <a:avLst/>
          </a:prstGeom>
          <a:noFill/>
          <a:ln w="1270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25" name="Text 23"/>
          <p:cNvSpPr/>
          <p:nvPr/>
        </p:nvSpPr>
        <p:spPr>
          <a:xfrm>
            <a:off x="731520" y="53492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15:00–17:30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920240" y="53492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E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Sesiones paralelas (3 salas)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297680" y="1920240"/>
            <a:ext cx="361188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7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EC"/>
          </a:p>
        </p:txBody>
      </p:sp>
      <p:sp>
        <p:nvSpPr>
          <p:cNvPr id="28" name="Shape 26"/>
          <p:cNvSpPr/>
          <p:nvPr/>
        </p:nvSpPr>
        <p:spPr>
          <a:xfrm>
            <a:off x="4297680" y="1920240"/>
            <a:ext cx="3611880" cy="77724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29" name="Text 27"/>
          <p:cNvSpPr/>
          <p:nvPr/>
        </p:nvSpPr>
        <p:spPr>
          <a:xfrm>
            <a:off x="4480560" y="199339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 2 — JUEVES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480560" y="224028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 de julio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480560" y="28346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09:00–10:00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669280" y="28346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E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Keynote — Bio. y Ambiental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480560" y="3291840"/>
            <a:ext cx="3246120" cy="0"/>
          </a:xfrm>
          <a:prstGeom prst="line">
            <a:avLst/>
          </a:prstGeom>
          <a:noFill/>
          <a:ln w="1270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34" name="Text 32"/>
          <p:cNvSpPr/>
          <p:nvPr/>
        </p:nvSpPr>
        <p:spPr>
          <a:xfrm>
            <a:off x="4480560" y="33375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10:00–11:00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669280" y="33375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E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Keynote — Bio. y Ambiental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480560" y="3794760"/>
            <a:ext cx="3246120" cy="0"/>
          </a:xfrm>
          <a:prstGeom prst="line">
            <a:avLst/>
          </a:prstGeom>
          <a:noFill/>
          <a:ln w="1270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37" name="Text 35"/>
          <p:cNvSpPr/>
          <p:nvPr/>
        </p:nvSpPr>
        <p:spPr>
          <a:xfrm>
            <a:off x="4480560" y="38404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11:30–12:30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669280" y="38404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E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— «Bio-Ambiente»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480560" y="4297680"/>
            <a:ext cx="3246120" cy="0"/>
          </a:xfrm>
          <a:prstGeom prst="line">
            <a:avLst/>
          </a:prstGeom>
          <a:noFill/>
          <a:ln w="1270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40" name="Text 38"/>
          <p:cNvSpPr/>
          <p:nvPr/>
        </p:nvSpPr>
        <p:spPr>
          <a:xfrm>
            <a:off x="4480560" y="43434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12:30–13:30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669280" y="43434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E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— «Ciencia Abierta»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480560" y="4800600"/>
            <a:ext cx="3246120" cy="0"/>
          </a:xfrm>
          <a:prstGeom prst="line">
            <a:avLst/>
          </a:prstGeom>
          <a:noFill/>
          <a:ln w="1270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43" name="Text 41"/>
          <p:cNvSpPr/>
          <p:nvPr/>
        </p:nvSpPr>
        <p:spPr>
          <a:xfrm>
            <a:off x="4480560" y="48463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15:00–17:30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669280" y="48463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E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Sesiones paralelas (3 salas)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8046720" y="1920240"/>
            <a:ext cx="361188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7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EC"/>
          </a:p>
        </p:txBody>
      </p:sp>
      <p:sp>
        <p:nvSpPr>
          <p:cNvPr id="46" name="Shape 44"/>
          <p:cNvSpPr/>
          <p:nvPr/>
        </p:nvSpPr>
        <p:spPr>
          <a:xfrm>
            <a:off x="8046720" y="1920240"/>
            <a:ext cx="3611880" cy="777240"/>
          </a:xfrm>
          <a:prstGeom prst="rect">
            <a:avLst/>
          </a:prstGeom>
          <a:solidFill>
            <a:srgbClr val="2A8B8E"/>
          </a:solidFill>
          <a:ln w="12700">
            <a:solidFill>
              <a:srgbClr val="2A8B8E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47" name="Text 45"/>
          <p:cNvSpPr/>
          <p:nvPr/>
        </p:nvSpPr>
        <p:spPr>
          <a:xfrm>
            <a:off x="8229600" y="199339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 3 — VIERNES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229600" y="224028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 de julio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229600" y="28346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10:00–12:00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9418320" y="28346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E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Feria de pósters (casa abierta)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8229600" y="3291840"/>
            <a:ext cx="3246120" cy="0"/>
          </a:xfrm>
          <a:prstGeom prst="line">
            <a:avLst/>
          </a:prstGeom>
          <a:noFill/>
          <a:ln w="1270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52" name="Text 50"/>
          <p:cNvSpPr/>
          <p:nvPr/>
        </p:nvSpPr>
        <p:spPr>
          <a:xfrm>
            <a:off x="8229600" y="33375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12:00–13:00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9418320" y="33375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E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Mesa de editores · revistas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8229600" y="3794760"/>
            <a:ext cx="3246120" cy="0"/>
          </a:xfrm>
          <a:prstGeom prst="line">
            <a:avLst/>
          </a:prstGeom>
          <a:noFill/>
          <a:ln w="1270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55" name="Text 53"/>
          <p:cNvSpPr/>
          <p:nvPr/>
        </p:nvSpPr>
        <p:spPr>
          <a:xfrm>
            <a:off x="8229600" y="38404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13:00–13:30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9418320" y="38404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E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Clausura virtual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8229600" y="4297680"/>
            <a:ext cx="3246120" cy="0"/>
          </a:xfrm>
          <a:prstGeom prst="line">
            <a:avLst/>
          </a:prstGeom>
          <a:noFill/>
          <a:ln w="1270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58" name="Text 56"/>
          <p:cNvSpPr/>
          <p:nvPr/>
        </p:nvSpPr>
        <p:spPr>
          <a:xfrm>
            <a:off x="8229600" y="43434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9418320" y="43434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E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Plaza Centenario ULEAM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Modalidad: plenarias presenciales en Paraninfo «Alfonso Aguilar Ruilova» (días 1 y 2) con transmisión por Zoom; sesiones paralelas 100 % virtuales en tres salas Zoom institucionales (una por track).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E2347"/>
          </a:solidFill>
          <a:ln w="12700">
            <a:solidFill>
              <a:srgbClr val="0E2347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62" name="Text 60"/>
          <p:cNvSpPr/>
          <p:nvPr/>
        </p:nvSpPr>
        <p:spPr>
          <a:xfrm>
            <a:off x="36576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ICLSET 2026  ·  International Conference on Life Sciences and Emerging Technologies  ·  ULEAM  ·  Manta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11064240" y="65379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537960"/>
          </a:xfrm>
          <a:prstGeom prst="rect">
            <a:avLst/>
          </a:prstGeom>
          <a:solidFill>
            <a:srgbClr val="1A3A6C"/>
          </a:solidFill>
          <a:ln w="12700">
            <a:solidFill>
              <a:srgbClr val="1A3A6C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GOBERNANZA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23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Estructura de Chairs de la conferencia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" cy="4572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3611880" cy="1325880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73152" cy="1325880"/>
          </a:xfrm>
          <a:prstGeom prst="rect">
            <a:avLst/>
          </a:prstGeom>
          <a:solidFill>
            <a:srgbClr val="1A3A6C"/>
          </a:solidFill>
          <a:ln w="12700">
            <a:solidFill>
              <a:srgbClr val="1A3A6C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8" name="Text 6"/>
          <p:cNvSpPr/>
          <p:nvPr/>
        </p:nvSpPr>
        <p:spPr>
          <a:xfrm>
            <a:off x="777240" y="202996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A3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CHAIR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230428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Alex Santamaria Philco, PhD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77240" y="269748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estratégica · Vocería · Aprobación final del programa.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25112" y="1920240"/>
            <a:ext cx="3611880" cy="1325880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12" name="Shape 10"/>
          <p:cNvSpPr/>
          <p:nvPr/>
        </p:nvSpPr>
        <p:spPr>
          <a:xfrm>
            <a:off x="4325112" y="1920240"/>
            <a:ext cx="73152" cy="1325880"/>
          </a:xfrm>
          <a:prstGeom prst="rect">
            <a:avLst/>
          </a:prstGeom>
          <a:solidFill>
            <a:srgbClr val="1A3A6C"/>
          </a:solidFill>
          <a:ln w="12700">
            <a:solidFill>
              <a:srgbClr val="1A3A6C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13" name="Text 11"/>
          <p:cNvSpPr/>
          <p:nvPr/>
        </p:nvSpPr>
        <p:spPr>
          <a:xfrm>
            <a:off x="4553712" y="202996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A3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CHAIR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53712" y="230428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Mg. Maholy Velásquez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53712" y="269748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del programa académico · Coordinación de keynotes y sesiones.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101584" y="1920240"/>
            <a:ext cx="3611880" cy="1325880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17" name="Shape 15"/>
          <p:cNvSpPr/>
          <p:nvPr/>
        </p:nvSpPr>
        <p:spPr>
          <a:xfrm>
            <a:off x="8101584" y="1920240"/>
            <a:ext cx="73152" cy="132588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18" name="Text 16"/>
          <p:cNvSpPr/>
          <p:nvPr/>
        </p:nvSpPr>
        <p:spPr>
          <a:xfrm>
            <a:off x="8330184" y="202996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CHAIRS (×3)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330184" y="230428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Klever Mendoza · Dr. Stalin Santacruz · Dra. Patricia Quiroz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330184" y="269748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Convocatoria por track · Asignación de revisores · Decisión editorial.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3410712"/>
            <a:ext cx="3611880" cy="1325880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22" name="Shape 20"/>
          <p:cNvSpPr/>
          <p:nvPr/>
        </p:nvSpPr>
        <p:spPr>
          <a:xfrm>
            <a:off x="548640" y="3410712"/>
            <a:ext cx="73152" cy="1325880"/>
          </a:xfrm>
          <a:prstGeom prst="rect">
            <a:avLst/>
          </a:prstGeom>
          <a:solidFill>
            <a:srgbClr val="1A3A6C"/>
          </a:solidFill>
          <a:ln w="12700">
            <a:solidFill>
              <a:srgbClr val="1A3A6C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23" name="Text 21"/>
          <p:cNvSpPr/>
          <p:nvPr/>
        </p:nvSpPr>
        <p:spPr>
          <a:xfrm>
            <a:off x="777240" y="35204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A3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 CHAIR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77240" y="379476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Alex Santamaria Philco, PhD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77240" y="4187952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Articulación con revistas aliadas · Mapeo y envío post-conferencia.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325112" y="3410712"/>
            <a:ext cx="3611880" cy="1325880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27" name="Shape 25"/>
          <p:cNvSpPr/>
          <p:nvPr/>
        </p:nvSpPr>
        <p:spPr>
          <a:xfrm>
            <a:off x="4325112" y="3410712"/>
            <a:ext cx="73152" cy="1325880"/>
          </a:xfrm>
          <a:prstGeom prst="rect">
            <a:avLst/>
          </a:prstGeom>
          <a:solidFill>
            <a:srgbClr val="1A3A6C"/>
          </a:solidFill>
          <a:ln w="12700">
            <a:solidFill>
              <a:srgbClr val="1A3A6C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28" name="Text 26"/>
          <p:cNvSpPr/>
          <p:nvPr/>
        </p:nvSpPr>
        <p:spPr>
          <a:xfrm>
            <a:off x="4553712" y="35204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A3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ORGANIZING CHAIR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53712" y="379476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Cristian Mera Macías · Dr. Christian Rivadeneira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553712" y="4187952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Logística presencial e híbrida · Coordinación operativa.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101584" y="3410712"/>
            <a:ext cx="3611880" cy="1325880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32" name="Shape 30"/>
          <p:cNvSpPr/>
          <p:nvPr/>
        </p:nvSpPr>
        <p:spPr>
          <a:xfrm>
            <a:off x="8101584" y="3410712"/>
            <a:ext cx="73152" cy="1325880"/>
          </a:xfrm>
          <a:prstGeom prst="rect">
            <a:avLst/>
          </a:prstGeom>
          <a:solidFill>
            <a:srgbClr val="1A3A6C"/>
          </a:solidFill>
          <a:ln w="12700">
            <a:solidFill>
              <a:srgbClr val="1A3A6C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33" name="Text 31"/>
          <p:cNvSpPr/>
          <p:nvPr/>
        </p:nvSpPr>
        <p:spPr>
          <a:xfrm>
            <a:off x="8330184" y="35204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A3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CHAIR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330184" y="379476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Mg. Sandra Soledispa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330184" y="4187952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Difusión · Sitio web · Inscripciones · Identidad visual.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48640" y="4937760"/>
            <a:ext cx="11064240" cy="1371600"/>
          </a:xfrm>
          <a:prstGeom prst="rect">
            <a:avLst/>
          </a:prstGeom>
          <a:solidFill>
            <a:srgbClr val="0E2347"/>
          </a:solidFill>
          <a:ln w="12700">
            <a:solidFill>
              <a:srgbClr val="0E2347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37" name="Shape 35"/>
          <p:cNvSpPr/>
          <p:nvPr/>
        </p:nvSpPr>
        <p:spPr>
          <a:xfrm>
            <a:off x="548640" y="4937760"/>
            <a:ext cx="73152" cy="137160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38" name="Text 36"/>
          <p:cNvSpPr/>
          <p:nvPr/>
        </p:nvSpPr>
        <p:spPr>
          <a:xfrm>
            <a:off x="868680" y="50749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COMITÉ HONORÍFICO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68680" y="53949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Rector ULEAM: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Marcos Zambrano Zambrano, PhD     ·     </a:t>
            </a:r>
            <a:r>
              <a:rPr lang="en-US" sz="12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Vicerrectora Académica: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Dra. Jackeline Terranova Ruiz, PhD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Decano FCVT: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Cristian Mera Macías, PhD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E2347"/>
          </a:solidFill>
          <a:ln w="12700">
            <a:solidFill>
              <a:srgbClr val="0E2347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41" name="Text 39"/>
          <p:cNvSpPr/>
          <p:nvPr/>
        </p:nvSpPr>
        <p:spPr>
          <a:xfrm>
            <a:off x="36576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ICLSET 2026  ·  International Conference on Life Sciences and Emerging Technologies  ·  ULEAM  ·  Manta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064240" y="65379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537960"/>
          </a:xfrm>
          <a:prstGeom prst="rect">
            <a:avLst/>
          </a:prstGeom>
          <a:solidFill>
            <a:srgbClr val="1A3A6C"/>
          </a:solidFill>
          <a:ln w="12700">
            <a:solidFill>
              <a:srgbClr val="1A3A6C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EDITORIAL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23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Revisión por pares y publicación indexada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" cy="4572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7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EC"/>
          </a:p>
        </p:txBody>
      </p:sp>
      <p:sp>
        <p:nvSpPr>
          <p:cNvPr id="7" name="Shape 5"/>
          <p:cNvSpPr/>
          <p:nvPr/>
        </p:nvSpPr>
        <p:spPr>
          <a:xfrm>
            <a:off x="731520" y="2103120"/>
            <a:ext cx="640080" cy="640080"/>
          </a:xfrm>
          <a:prstGeom prst="ellipse">
            <a:avLst/>
          </a:prstGeom>
          <a:solidFill>
            <a:srgbClr val="1A3A6C"/>
          </a:solidFill>
          <a:ln w="12700">
            <a:solidFill>
              <a:srgbClr val="1A3A6C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8" name="Text 6"/>
          <p:cNvSpPr/>
          <p:nvPr/>
        </p:nvSpPr>
        <p:spPr>
          <a:xfrm>
            <a:off x="73152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463040" y="21488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3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Recepción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8803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CMT · plantilla del congreso · anonimización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200400" y="25374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410712" y="1920240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7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EC"/>
          </a:p>
        </p:txBody>
      </p:sp>
      <p:sp>
        <p:nvSpPr>
          <p:cNvPr id="13" name="Shape 11"/>
          <p:cNvSpPr/>
          <p:nvPr/>
        </p:nvSpPr>
        <p:spPr>
          <a:xfrm>
            <a:off x="3593592" y="2103120"/>
            <a:ext cx="640080" cy="640080"/>
          </a:xfrm>
          <a:prstGeom prst="ellipse">
            <a:avLst/>
          </a:prstGeom>
          <a:solidFill>
            <a:srgbClr val="1A3A6C"/>
          </a:solidFill>
          <a:ln w="12700">
            <a:solidFill>
              <a:srgbClr val="1A3A6C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14" name="Text 12"/>
          <p:cNvSpPr/>
          <p:nvPr/>
        </p:nvSpPr>
        <p:spPr>
          <a:xfrm>
            <a:off x="3593592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325112" y="21488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3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Revisión doble ciego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593592" y="28803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revisores por artículo · rúbrica numérica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062472" y="25374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272784" y="1920240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7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EC"/>
          </a:p>
        </p:txBody>
      </p:sp>
      <p:sp>
        <p:nvSpPr>
          <p:cNvPr id="19" name="Shape 17"/>
          <p:cNvSpPr/>
          <p:nvPr/>
        </p:nvSpPr>
        <p:spPr>
          <a:xfrm>
            <a:off x="6455664" y="2103120"/>
            <a:ext cx="640080" cy="640080"/>
          </a:xfrm>
          <a:prstGeom prst="ellipse">
            <a:avLst/>
          </a:prstGeom>
          <a:solidFill>
            <a:srgbClr val="1A3A6C"/>
          </a:solidFill>
          <a:ln w="12700">
            <a:solidFill>
              <a:srgbClr val="1A3A6C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20" name="Text 18"/>
          <p:cNvSpPr/>
          <p:nvPr/>
        </p:nvSpPr>
        <p:spPr>
          <a:xfrm>
            <a:off x="6455664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187184" y="21488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3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Decisión editorial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55664" y="28803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Chair + Program Chair · 4 categorías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924544" y="25374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9134856" y="1920240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7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EC"/>
          </a:p>
        </p:txBody>
      </p:sp>
      <p:sp>
        <p:nvSpPr>
          <p:cNvPr id="25" name="Shape 23"/>
          <p:cNvSpPr/>
          <p:nvPr/>
        </p:nvSpPr>
        <p:spPr>
          <a:xfrm>
            <a:off x="9317736" y="2103120"/>
            <a:ext cx="640080" cy="640080"/>
          </a:xfrm>
          <a:prstGeom prst="ellipse">
            <a:avLst/>
          </a:prstGeom>
          <a:solidFill>
            <a:srgbClr val="1A3A6C"/>
          </a:solidFill>
          <a:ln w="12700">
            <a:solidFill>
              <a:srgbClr val="1A3A6C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26" name="Text 24"/>
          <p:cNvSpPr/>
          <p:nvPr/>
        </p:nvSpPr>
        <p:spPr>
          <a:xfrm>
            <a:off x="9317736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0049256" y="21488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3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Canalización a revista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317736" y="28803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 Chair mapea con revista afín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3931920"/>
            <a:ext cx="11064240" cy="2331720"/>
          </a:xfrm>
          <a:prstGeom prst="rect">
            <a:avLst/>
          </a:prstGeom>
          <a:solidFill>
            <a:srgbClr val="0E2347"/>
          </a:solidFill>
          <a:ln w="12700">
            <a:solidFill>
              <a:srgbClr val="0E2347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30" name="Shape 28"/>
          <p:cNvSpPr/>
          <p:nvPr/>
        </p:nvSpPr>
        <p:spPr>
          <a:xfrm>
            <a:off x="548640" y="3931920"/>
            <a:ext cx="73152" cy="233172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31" name="Text 29"/>
          <p:cNvSpPr/>
          <p:nvPr/>
        </p:nvSpPr>
        <p:spPr>
          <a:xfrm>
            <a:off x="868680" y="406908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REVISTAS ALIADAS  ·  INDEXADAS LATINDEX Y DIALNET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68680" y="4526280"/>
            <a:ext cx="2057400" cy="1280160"/>
          </a:xfrm>
          <a:prstGeom prst="rect">
            <a:avLst/>
          </a:prstGeom>
          <a:solidFill>
            <a:srgbClr val="1A3A6C"/>
          </a:solidFill>
          <a:ln w="12700">
            <a:solidFill>
              <a:srgbClr val="1A3A6C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33" name="Shape 31"/>
          <p:cNvSpPr/>
          <p:nvPr/>
        </p:nvSpPr>
        <p:spPr>
          <a:xfrm>
            <a:off x="868680" y="4526280"/>
            <a:ext cx="2057400" cy="73152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34" name="Text 32"/>
          <p:cNvSpPr/>
          <p:nvPr/>
        </p:nvSpPr>
        <p:spPr>
          <a:xfrm>
            <a:off x="1005840" y="475488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Encriptar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005840" y="53949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ULEAM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044952" y="4526280"/>
            <a:ext cx="2057400" cy="1280160"/>
          </a:xfrm>
          <a:prstGeom prst="rect">
            <a:avLst/>
          </a:prstGeom>
          <a:solidFill>
            <a:srgbClr val="1A3A6C"/>
          </a:solidFill>
          <a:ln w="12700">
            <a:solidFill>
              <a:srgbClr val="1A3A6C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37" name="Shape 35"/>
          <p:cNvSpPr/>
          <p:nvPr/>
        </p:nvSpPr>
        <p:spPr>
          <a:xfrm>
            <a:off x="3044952" y="4526280"/>
            <a:ext cx="2057400" cy="73152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38" name="Text 36"/>
          <p:cNvSpPr/>
          <p:nvPr/>
        </p:nvSpPr>
        <p:spPr>
          <a:xfrm>
            <a:off x="3182112" y="475488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YAKU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3182112" y="53949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ULEAM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221224" y="4526280"/>
            <a:ext cx="2057400" cy="1280160"/>
          </a:xfrm>
          <a:prstGeom prst="rect">
            <a:avLst/>
          </a:prstGeom>
          <a:solidFill>
            <a:srgbClr val="1A3A6C"/>
          </a:solidFill>
          <a:ln w="12700">
            <a:solidFill>
              <a:srgbClr val="1A3A6C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41" name="Shape 39"/>
          <p:cNvSpPr/>
          <p:nvPr/>
        </p:nvSpPr>
        <p:spPr>
          <a:xfrm>
            <a:off x="5221224" y="4526280"/>
            <a:ext cx="2057400" cy="73152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42" name="Text 40"/>
          <p:cNvSpPr/>
          <p:nvPr/>
        </p:nvSpPr>
        <p:spPr>
          <a:xfrm>
            <a:off x="5358384" y="475488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ALLPA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358384" y="53949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ULEAM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397496" y="4526280"/>
            <a:ext cx="2057400" cy="1280160"/>
          </a:xfrm>
          <a:prstGeom prst="rect">
            <a:avLst/>
          </a:prstGeom>
          <a:solidFill>
            <a:srgbClr val="1A3A6C"/>
          </a:solidFill>
          <a:ln w="12700">
            <a:solidFill>
              <a:srgbClr val="1A3A6C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45" name="Shape 43"/>
          <p:cNvSpPr/>
          <p:nvPr/>
        </p:nvSpPr>
        <p:spPr>
          <a:xfrm>
            <a:off x="7397496" y="4526280"/>
            <a:ext cx="2057400" cy="73152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46" name="Text 44"/>
          <p:cNvSpPr/>
          <p:nvPr/>
        </p:nvSpPr>
        <p:spPr>
          <a:xfrm>
            <a:off x="7534656" y="475488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Conectividad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7534656" y="53949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ISTER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9573768" y="4526280"/>
            <a:ext cx="2057400" cy="1280160"/>
          </a:xfrm>
          <a:prstGeom prst="rect">
            <a:avLst/>
          </a:prstGeom>
          <a:solidFill>
            <a:srgbClr val="1A3A6C"/>
          </a:solidFill>
          <a:ln w="12700">
            <a:solidFill>
              <a:srgbClr val="1A3A6C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49" name="Shape 47"/>
          <p:cNvSpPr/>
          <p:nvPr/>
        </p:nvSpPr>
        <p:spPr>
          <a:xfrm>
            <a:off x="9573768" y="4526280"/>
            <a:ext cx="2057400" cy="73152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50" name="Text 48"/>
          <p:cNvSpPr/>
          <p:nvPr/>
        </p:nvSpPr>
        <p:spPr>
          <a:xfrm>
            <a:off x="9710928" y="475488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Ecuadorian Science Journal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9710928" y="53949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868680" y="589788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ICLSET 2026 produce libro de actas con ISBN. Cada artículo aceptado se canaliza a la revista más afín por temática.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E2347"/>
          </a:solidFill>
          <a:ln w="12700">
            <a:solidFill>
              <a:srgbClr val="0E2347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54" name="Text 52"/>
          <p:cNvSpPr/>
          <p:nvPr/>
        </p:nvSpPr>
        <p:spPr>
          <a:xfrm>
            <a:off x="36576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ICLSET 2026  ·  International Conference on Life Sciences and Emerging Technologies  ·  ULEAM  ·  Manta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1064240" y="65379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537960"/>
          </a:xfrm>
          <a:prstGeom prst="rect">
            <a:avLst/>
          </a:prstGeom>
          <a:solidFill>
            <a:srgbClr val="1A3A6C"/>
          </a:solidFill>
          <a:ln w="12700">
            <a:solidFill>
              <a:srgbClr val="1A3A6C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FINANCIERA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23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Modelo de autosustento y reinversión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" cy="4572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1874520"/>
          <a:ext cx="475488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669280" y="1920240"/>
            <a:ext cx="2880360" cy="1874520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8" name="Shape 5"/>
          <p:cNvSpPr/>
          <p:nvPr/>
        </p:nvSpPr>
        <p:spPr>
          <a:xfrm>
            <a:off x="5669280" y="1920240"/>
            <a:ext cx="2880360" cy="73152"/>
          </a:xfrm>
          <a:prstGeom prst="rect">
            <a:avLst/>
          </a:prstGeom>
          <a:solidFill>
            <a:srgbClr val="1A3A6C"/>
          </a:solidFill>
          <a:ln w="12700">
            <a:solidFill>
              <a:srgbClr val="1A3A6C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9" name="Text 6"/>
          <p:cNvSpPr/>
          <p:nvPr/>
        </p:nvSpPr>
        <p:spPr>
          <a:xfrm>
            <a:off x="5852160" y="214884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A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$ 41.450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5852160" y="306324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 estimados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714232" y="1920240"/>
            <a:ext cx="2880360" cy="1874520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12" name="Shape 9"/>
          <p:cNvSpPr/>
          <p:nvPr/>
        </p:nvSpPr>
        <p:spPr>
          <a:xfrm>
            <a:off x="8714232" y="1920240"/>
            <a:ext cx="2880360" cy="73152"/>
          </a:xfrm>
          <a:prstGeom prst="rect">
            <a:avLst/>
          </a:prstGeom>
          <a:solidFill>
            <a:srgbClr val="0E2347"/>
          </a:solidFill>
          <a:ln w="12700">
            <a:solidFill>
              <a:srgbClr val="0E2347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13" name="Text 10"/>
          <p:cNvSpPr/>
          <p:nvPr/>
        </p:nvSpPr>
        <p:spPr>
          <a:xfrm>
            <a:off x="8897112" y="214884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23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$ 8.800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8897112" y="306324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Inversión total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669280" y="3959352"/>
            <a:ext cx="2880360" cy="1874520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16" name="Shape 13"/>
          <p:cNvSpPr/>
          <p:nvPr/>
        </p:nvSpPr>
        <p:spPr>
          <a:xfrm>
            <a:off x="5669280" y="3959352"/>
            <a:ext cx="2880360" cy="73152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17" name="Text 14"/>
          <p:cNvSpPr/>
          <p:nvPr/>
        </p:nvSpPr>
        <p:spPr>
          <a:xfrm>
            <a:off x="5852160" y="4187952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$ 2.392</a:t>
            </a:r>
            <a:endParaRPr lang="en-US" sz="2800" dirty="0"/>
          </a:p>
        </p:txBody>
      </p:sp>
      <p:sp>
        <p:nvSpPr>
          <p:cNvPr id="18" name="Text 15"/>
          <p:cNvSpPr/>
          <p:nvPr/>
        </p:nvSpPr>
        <p:spPr>
          <a:xfrm>
            <a:off x="5852160" y="5102352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equilibrio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8714232" y="3959352"/>
            <a:ext cx="2880360" cy="1874520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20" name="Shape 17"/>
          <p:cNvSpPr/>
          <p:nvPr/>
        </p:nvSpPr>
        <p:spPr>
          <a:xfrm>
            <a:off x="8714232" y="3959352"/>
            <a:ext cx="2880360" cy="73152"/>
          </a:xfrm>
          <a:prstGeom prst="rect">
            <a:avLst/>
          </a:prstGeom>
          <a:solidFill>
            <a:srgbClr val="1A3A6C"/>
          </a:solidFill>
          <a:ln w="12700">
            <a:solidFill>
              <a:srgbClr val="1A3A6C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21" name="Text 18"/>
          <p:cNvSpPr/>
          <p:nvPr/>
        </p:nvSpPr>
        <p:spPr>
          <a:xfrm>
            <a:off x="8897112" y="4187952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A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$ 32.650</a:t>
            </a:r>
            <a:endParaRPr lang="en-US" sz="2800" dirty="0"/>
          </a:p>
        </p:txBody>
      </p:sp>
      <p:sp>
        <p:nvSpPr>
          <p:cNvPr id="22" name="Text 19"/>
          <p:cNvSpPr/>
          <p:nvPr/>
        </p:nvSpPr>
        <p:spPr>
          <a:xfrm>
            <a:off x="8897112" y="5102352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 esperado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669280" y="5806440"/>
            <a:ext cx="5943600" cy="502920"/>
          </a:xfrm>
          <a:prstGeom prst="rect">
            <a:avLst/>
          </a:prstGeom>
          <a:solidFill>
            <a:srgbClr val="0E2347"/>
          </a:solidFill>
          <a:ln w="12700">
            <a:solidFill>
              <a:srgbClr val="0E2347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24" name="Text 21"/>
          <p:cNvSpPr/>
          <p:nvPr/>
        </p:nvSpPr>
        <p:spPr>
          <a:xfrm>
            <a:off x="5852160" y="580644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Margen sobre ingresos: 78,77 %  ·  reinversión en funciones sustantivas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E2347"/>
          </a:solidFill>
          <a:ln w="12700">
            <a:solidFill>
              <a:srgbClr val="0E2347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26" name="Text 23"/>
          <p:cNvSpPr/>
          <p:nvPr/>
        </p:nvSpPr>
        <p:spPr>
          <a:xfrm>
            <a:off x="36576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ICLSET 2026  ·  International Conference on Life Sciences and Emerging Technologies  ·  ULEAM  ·  Manta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064240" y="65379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23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180000">
            <a:off x="-914400" y="914400"/>
            <a:ext cx="13990320" cy="1097280"/>
          </a:xfrm>
          <a:prstGeom prst="rect">
            <a:avLst/>
          </a:prstGeom>
          <a:solidFill>
            <a:srgbClr val="1A3A6C"/>
          </a:solidFill>
          <a:ln w="12700">
            <a:solidFill>
              <a:srgbClr val="1A3A6C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3" name="Text 1"/>
          <p:cNvSpPr/>
          <p:nvPr/>
        </p:nvSpPr>
        <p:spPr>
          <a:xfrm>
            <a:off x="731520" y="210312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¡Gracias!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731520" y="3246120"/>
            <a:ext cx="1463040" cy="64008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5" name="Text 3"/>
          <p:cNvSpPr/>
          <p:nvPr/>
        </p:nvSpPr>
        <p:spPr>
          <a:xfrm>
            <a:off x="731520" y="3429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Esperamos contar con su respaldo para ICLSET 2026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4206240"/>
            <a:ext cx="10698480" cy="1874520"/>
          </a:xfrm>
          <a:prstGeom prst="rect">
            <a:avLst/>
          </a:prstGeom>
          <a:solidFill>
            <a:srgbClr val="1A3A6C"/>
          </a:solidFill>
          <a:ln w="12700">
            <a:solidFill>
              <a:srgbClr val="1A3A6C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7" name="Text 5"/>
          <p:cNvSpPr/>
          <p:nvPr/>
        </p:nvSpPr>
        <p:spPr>
          <a:xfrm>
            <a:off x="960120" y="43434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HITOS CLAVE DEL PROYECTO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4754880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5074920"/>
            <a:ext cx="2542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Lanzamiento del Call for Papers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11880" y="4754880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2026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11880" y="5074920"/>
            <a:ext cx="2542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Recepción y revisión doble ciego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63640" y="4754880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2026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63640" y="5074920"/>
            <a:ext cx="2542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Conferencia (15-17 julio)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915400" y="4754880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 2027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915400" y="5074920"/>
            <a:ext cx="2542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 canalización editorial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0" y="6693408"/>
            <a:ext cx="12161520" cy="164592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17" name="Text 15"/>
          <p:cNvSpPr/>
          <p:nvPr/>
        </p:nvSpPr>
        <p:spPr>
          <a:xfrm>
            <a:off x="731520" y="6309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Alex Santamaria Philco, PhD  ·  General Chair ICLSET 2026  ·  Facultad de Ciencias de la Vida y Tecnologías  ·  ULEAM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1212</Words>
  <Application>Microsoft Office PowerPoint</Application>
  <PresentationFormat>Panorámica</PresentationFormat>
  <Paragraphs>241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Calibri</vt:lpstr>
      <vt:lpstr>Georgia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ICLSET 2026 — International Conference on Life Sciences and Emerging Technologies</dc:title>
  <dc:subject>PptxGenJS Presentation</dc:subject>
  <dc:creator>Facultad de Ciencias de la Vida y Tecnologías - ULEAM</dc:creator>
  <cp:lastModifiedBy>GOMEZ CALDERON ISRAEL JULIO</cp:lastModifiedBy>
  <cp:revision>2</cp:revision>
  <dcterms:created xsi:type="dcterms:W3CDTF">2026-05-07T16:30:24Z</dcterms:created>
  <dcterms:modified xsi:type="dcterms:W3CDTF">2026-05-07T20:12:08Z</dcterms:modified>
</cp:coreProperties>
</file>